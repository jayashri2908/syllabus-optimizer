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003366"/>
                </a:solidFill>
              </a:defRPr>
            </a:pPr>
            <a:r>
              <a:t>Syllabus &amp; Curriculum Design Optimizer (SCDO)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505050"/>
                </a:solidFill>
              </a:defRPr>
            </a:pPr>
            <a:r>
              <a:t>Agentic AI for Academic Compliance &amp; Optimization</a:t>
            </a:r>
          </a:p>
          <a:p>
            <a:r>
              <a:t>IBM Project No.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Problem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1"/>
            </a:pPr>
            <a:r>
              <a:t>Manual Inefficiency:</a:t>
            </a:r>
          </a:p>
          <a:p>
            <a:pPr lvl="1">
              <a:spcAft>
                <a:spcPts val="1000"/>
              </a:spcAft>
              <a:defRPr sz="2000"/>
            </a:pPr>
            <a:r>
              <a:t>Curriculum design takes 40-60 faculty hours per course.</a:t>
            </a:r>
          </a:p>
          <a:p>
            <a:pPr>
              <a:spcAft>
                <a:spcPts val="1000"/>
              </a:spcAft>
              <a:defRPr sz="2400" b="1"/>
            </a:pPr>
            <a:r>
              <a:t>Compliance Gaps:</a:t>
            </a:r>
          </a:p>
          <a:p>
            <a:pPr lvl="1">
              <a:spcAft>
                <a:spcPts val="1000"/>
              </a:spcAft>
              <a:defRPr sz="2000"/>
            </a:pPr>
            <a:r>
              <a:t>Difficulty aligning with dynamic NEP 2020, NBA, and NAAC standards.</a:t>
            </a:r>
          </a:p>
          <a:p>
            <a:pPr>
              <a:spcAft>
                <a:spcPts val="1000"/>
              </a:spcAft>
              <a:defRPr sz="2400" b="1"/>
            </a:pPr>
            <a:r>
              <a:t>Static Content:</a:t>
            </a:r>
          </a:p>
          <a:p>
            <a:pPr lvl="1">
              <a:spcAft>
                <a:spcPts val="1000"/>
              </a:spcAft>
              <a:defRPr sz="2000"/>
            </a:pPr>
            <a:r>
              <a:t>Syllabi often lag behind industry trends (2-3 year gap).</a:t>
            </a:r>
          </a:p>
          <a:p>
            <a:pPr lvl="1">
              <a:spcAft>
                <a:spcPts val="1000"/>
              </a:spcAft>
              <a:defRPr sz="2000"/>
            </a:pPr>
            <a:r>
              <a:t>Lack of data-driven insights for improvements.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1"/>
            </a:pPr>
            <a:r>
              <a:t>Automate:</a:t>
            </a:r>
          </a:p>
          <a:p>
            <a:pPr lvl="1">
              <a:spcAft>
                <a:spcPts val="1000"/>
              </a:spcAft>
              <a:defRPr sz="2000"/>
            </a:pPr>
            <a:r>
              <a:t>Extraction and structuring of legacy syllabus data (PDF/DOCX).</a:t>
            </a:r>
          </a:p>
          <a:p>
            <a:pPr>
              <a:spcAft>
                <a:spcPts val="1000"/>
              </a:spcAft>
              <a:defRPr sz="2400" b="1"/>
            </a:pPr>
            <a:r>
              <a:t>Optimize:</a:t>
            </a:r>
          </a:p>
          <a:p>
            <a:pPr lvl="1">
              <a:spcAft>
                <a:spcPts val="1000"/>
              </a:spcAft>
              <a:defRPr sz="2000"/>
            </a:pPr>
            <a:r>
              <a:t>Enhance content using Bloom's Taxonomy and industry trends.</a:t>
            </a:r>
          </a:p>
          <a:p>
            <a:pPr>
              <a:spcAft>
                <a:spcPts val="1000"/>
              </a:spcAft>
              <a:defRPr sz="2400" b="1"/>
            </a:pPr>
            <a:r>
              <a:t>Validate:</a:t>
            </a:r>
          </a:p>
          <a:p>
            <a:pPr lvl="1">
              <a:spcAft>
                <a:spcPts val="1000"/>
              </a:spcAft>
              <a:defRPr sz="2000"/>
            </a:pPr>
            <a:r>
              <a:t>Ensure 100% compliance with accreditation bodies via RAG.</a:t>
            </a:r>
          </a:p>
          <a:p>
            <a:pPr>
              <a:spcAft>
                <a:spcPts val="1000"/>
              </a:spcAft>
              <a:defRPr sz="2400" b="1"/>
            </a:pPr>
            <a:r>
              <a:t>Standardize:</a:t>
            </a:r>
          </a:p>
          <a:p>
            <a:pPr lvl="1">
              <a:spcAft>
                <a:spcPts val="1000"/>
              </a:spcAft>
              <a:defRPr sz="2000"/>
            </a:pPr>
            <a:r>
              <a:t>Generate uniform, high-quality PDF/DOCX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1"/>
            </a:pPr>
            <a:r>
              <a:t>Client-Server Model:</a:t>
            </a:r>
          </a:p>
          <a:p>
            <a:pPr lvl="1">
              <a:spcAft>
                <a:spcPts val="1000"/>
              </a:spcAft>
              <a:defRPr sz="2000"/>
            </a:pPr>
            <a:r>
              <a:t>React Frontend (Interactive Gap Analysis) ↔ FastAPI Backend.</a:t>
            </a:r>
          </a:p>
          <a:p>
            <a:pPr>
              <a:spcAft>
                <a:spcPts val="1000"/>
              </a:spcAft>
              <a:defRPr sz="2400" b="0"/>
            </a:pPr>
            <a:r>
              <a:t>Microservices Architecture:</a:t>
            </a:r>
          </a:p>
          <a:p>
            <a:pPr lvl="1">
              <a:spcAft>
                <a:spcPts val="1000"/>
              </a:spcAft>
              <a:defRPr sz="2000"/>
            </a:pPr>
            <a:r>
              <a:t>Modular Parsers, Gap Analyzers, and Generation Engines.</a:t>
            </a:r>
          </a:p>
          <a:p>
            <a:pPr>
              <a:spcAft>
                <a:spcPts val="1000"/>
              </a:spcAft>
              <a:defRPr sz="2400" b="1"/>
            </a:pPr>
            <a:r>
              <a:t>Data Flow:</a:t>
            </a:r>
          </a:p>
          <a:p>
            <a:pPr lvl="1">
              <a:spcAft>
                <a:spcPts val="1000"/>
              </a:spcAft>
              <a:defRPr sz="2000"/>
            </a:pPr>
            <a:r>
              <a:t>User Upload -&gt; Parsing -&gt; Vector Context (RAG) -&gt; LLM Processing -&gt; Structured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Module: Intelligent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1"/>
            </a:pPr>
            <a:r>
              <a:t>Hybrid Approach:</a:t>
            </a:r>
          </a:p>
          <a:p>
            <a:pPr lvl="1">
              <a:spcAft>
                <a:spcPts val="1000"/>
              </a:spcAft>
              <a:defRPr sz="2000"/>
            </a:pPr>
            <a:r>
              <a:t>Uses `pdfplumber` for layout preservation and `PyPDF2` for raw text.</a:t>
            </a:r>
          </a:p>
          <a:p>
            <a:pPr>
              <a:spcAft>
                <a:spcPts val="1000"/>
              </a:spcAft>
              <a:defRPr sz="2400" b="0"/>
            </a:pPr>
            <a:r>
              <a:t>Regex Pattern Matching:</a:t>
            </a:r>
          </a:p>
          <a:p>
            <a:pPr lvl="1">
              <a:spcAft>
                <a:spcPts val="1000"/>
              </a:spcAft>
              <a:defRPr sz="2000"/>
            </a:pPr>
            <a:r>
              <a:t>Detects Course Codes (`[A-Z]{2,}\d+`), Credits (`L-T-P`), and Units.</a:t>
            </a:r>
          </a:p>
          <a:p>
            <a:pPr>
              <a:spcAft>
                <a:spcPts val="1000"/>
              </a:spcAft>
              <a:defRPr sz="2400" b="1"/>
            </a:pPr>
            <a:r>
              <a:t>Structure Recovery:</a:t>
            </a:r>
          </a:p>
          <a:p>
            <a:pPr lvl="1">
              <a:spcAft>
                <a:spcPts val="1000"/>
              </a:spcAft>
              <a:defRPr sz="2000"/>
            </a:pPr>
            <a:r>
              <a:t>Reconstructs hierarchy (Course -&gt; Units -&gt; Topics) from unstructured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Module: RAG Analysis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0"/>
            </a:pPr>
            <a:r>
              <a:t>Retrieval Augmented Generation (RAG):</a:t>
            </a:r>
          </a:p>
          <a:p>
            <a:pPr lvl="1">
              <a:spcAft>
                <a:spcPts val="1000"/>
              </a:spcAft>
              <a:defRPr sz="2000"/>
            </a:pPr>
            <a:r>
              <a:t>'Grounds' AI analysis in official manuals (NBA/NAAC) to prevent hallucinations.</a:t>
            </a:r>
          </a:p>
          <a:p>
            <a:pPr>
              <a:spcAft>
                <a:spcPts val="1000"/>
              </a:spcAft>
              <a:defRPr sz="2400" b="1"/>
            </a:pPr>
            <a:r>
              <a:t>Vector Store:</a:t>
            </a:r>
          </a:p>
          <a:p>
            <a:pPr lvl="1">
              <a:spcAft>
                <a:spcPts val="1000"/>
              </a:spcAft>
              <a:defRPr sz="2000"/>
            </a:pPr>
            <a:r>
              <a:t>ChromaDB stores embeddings of accreditation guidelines and standard syllabi.</a:t>
            </a:r>
          </a:p>
          <a:p>
            <a:pPr>
              <a:spcAft>
                <a:spcPts val="1000"/>
              </a:spcAft>
              <a:defRPr sz="2400" b="1"/>
            </a:pPr>
            <a:r>
              <a:t>Query Process:</a:t>
            </a:r>
          </a:p>
          <a:p>
            <a:pPr lvl="1">
              <a:spcAft>
                <a:spcPts val="1000"/>
              </a:spcAft>
              <a:defRPr sz="2000"/>
            </a:pPr>
            <a:r>
              <a:t>`RAGEngine` retrieves relevant 'Program Outcomes' and 'Assessment Rules' to validate the input syllabus.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Module: Content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0"/>
            </a:pPr>
            <a:r>
              <a:t>Bloom's Taxonomy Mapper:</a:t>
            </a:r>
          </a:p>
          <a:p>
            <a:pPr lvl="1">
              <a:spcAft>
                <a:spcPts val="1000"/>
              </a:spcAft>
              <a:defRPr sz="2000"/>
            </a:pPr>
            <a:r>
              <a:t>Classifies outcomes (Remembering -&gt; Creating) to ensure cognitive depth.</a:t>
            </a:r>
          </a:p>
          <a:p>
            <a:pPr>
              <a:spcAft>
                <a:spcPts val="1000"/>
              </a:spcAft>
              <a:defRPr sz="2400" b="0"/>
            </a:pPr>
            <a:r>
              <a:t>Sequence Optimization:</a:t>
            </a:r>
          </a:p>
          <a:p>
            <a:pPr lvl="1">
              <a:spcAft>
                <a:spcPts val="1000"/>
              </a:spcAft>
              <a:defRPr sz="2000"/>
            </a:pPr>
            <a:r>
              <a:t>LLM re-orders units based on prerequisite dependency logic.</a:t>
            </a:r>
          </a:p>
          <a:p>
            <a:pPr>
              <a:spcAft>
                <a:spcPts val="1000"/>
              </a:spcAft>
              <a:defRPr sz="2400" b="1"/>
            </a:pPr>
            <a:r>
              <a:t>Redundancy Check:</a:t>
            </a:r>
          </a:p>
          <a:p>
            <a:pPr lvl="1">
              <a:spcAft>
                <a:spcPts val="1000"/>
              </a:spcAft>
              <a:defRPr sz="2000"/>
            </a:pPr>
            <a:r>
              <a:t>Semantic similarity detection to remove overlapping topics across units.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Module: Outcome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0"/>
            </a:pPr>
            <a:r>
              <a:t>CO-PO Matrix Generation:</a:t>
            </a:r>
          </a:p>
          <a:p>
            <a:pPr lvl="1">
              <a:spcAft>
                <a:spcPts val="1000"/>
              </a:spcAft>
              <a:defRPr sz="2000"/>
            </a:pPr>
            <a:r>
              <a:t>Auto-generates correlation matrix (High/Med/Low) for accreditation.</a:t>
            </a:r>
          </a:p>
          <a:p>
            <a:pPr>
              <a:spcAft>
                <a:spcPts val="1000"/>
              </a:spcAft>
              <a:defRPr sz="2400" b="1"/>
            </a:pPr>
            <a:r>
              <a:t>Logic:</a:t>
            </a:r>
          </a:p>
          <a:p>
            <a:pPr lvl="1">
              <a:spcAft>
                <a:spcPts val="1000"/>
              </a:spcAft>
              <a:defRPr sz="2000"/>
            </a:pPr>
            <a:r>
              <a:t>Calculates semantic cosine similarity between Course Outcomes (CO) and Program Outcomes (PO).</a:t>
            </a:r>
          </a:p>
          <a:p>
            <a:pPr>
              <a:spcAft>
                <a:spcPts val="1000"/>
              </a:spcAft>
              <a:defRPr sz="2400" b="1"/>
            </a:pPr>
            <a:r>
              <a:t>Justification:</a:t>
            </a:r>
          </a:p>
          <a:p>
            <a:pPr lvl="1">
              <a:spcAft>
                <a:spcPts val="1000"/>
              </a:spcAft>
              <a:defRPr sz="2000"/>
            </a:pPr>
            <a:r>
              <a:t>Generates text explaining *why* a mapping exists (e.g., 'Matches design skill').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Methodology: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1"/>
            </a:pPr>
            <a:r>
              <a:t>Role-Prompting:</a:t>
            </a:r>
          </a:p>
          <a:p>
            <a:pPr lvl="1">
              <a:spcAft>
                <a:spcPts val="1000"/>
              </a:spcAft>
              <a:defRPr sz="2000"/>
            </a:pPr>
            <a:r>
              <a:t>'You are a curriculum expert with 20+ years experience...'</a:t>
            </a:r>
          </a:p>
          <a:p>
            <a:pPr>
              <a:spcAft>
                <a:spcPts val="1000"/>
              </a:spcAft>
              <a:defRPr sz="2400" b="1"/>
            </a:pPr>
            <a:r>
              <a:t>Few-Shot Learning:</a:t>
            </a:r>
          </a:p>
          <a:p>
            <a:pPr lvl="1">
              <a:spcAft>
                <a:spcPts val="1000"/>
              </a:spcAft>
              <a:defRPr sz="2000"/>
            </a:pPr>
            <a:r>
              <a:t>Providing examples of 'Poor' vs 'Excellent' outcomes in system prompts.</a:t>
            </a:r>
          </a:p>
          <a:p>
            <a:pPr>
              <a:spcAft>
                <a:spcPts val="1000"/>
              </a:spcAft>
              <a:defRPr sz="2400" b="0"/>
            </a:pPr>
            <a:r>
              <a:t>Structured Output Enforcement:</a:t>
            </a:r>
          </a:p>
          <a:p>
            <a:pPr lvl="1">
              <a:spcAft>
                <a:spcPts val="1000"/>
              </a:spcAft>
              <a:defRPr sz="2000"/>
            </a:pPr>
            <a:r>
              <a:t>Enforcing JSON or specific markdown formats to ensure parsing reliability.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1"/>
            </a:pPr>
            <a:r>
              <a:t>Frontend:</a:t>
            </a:r>
          </a:p>
          <a:p>
            <a:pPr lvl="1">
              <a:spcAft>
                <a:spcPts val="1000"/>
              </a:spcAft>
              <a:defRPr sz="2000"/>
            </a:pPr>
            <a:r>
              <a:t>React.js, Tailwind CSS (Responsive Dashboard)</a:t>
            </a:r>
          </a:p>
          <a:p>
            <a:pPr>
              <a:spcAft>
                <a:spcPts val="1000"/>
              </a:spcAft>
              <a:defRPr sz="2400" b="1"/>
            </a:pPr>
            <a:r>
              <a:t>Backend:</a:t>
            </a:r>
          </a:p>
          <a:p>
            <a:pPr lvl="1">
              <a:spcAft>
                <a:spcPts val="1000"/>
              </a:spcAft>
              <a:defRPr sz="2000"/>
            </a:pPr>
            <a:r>
              <a:t>FastAPI, Pydantic, Uvicorn (Async High Performance)</a:t>
            </a:r>
          </a:p>
          <a:p>
            <a:pPr>
              <a:spcAft>
                <a:spcPts val="1000"/>
              </a:spcAft>
              <a:defRPr sz="2400" b="1"/>
            </a:pPr>
            <a:r>
              <a:t>AI/LLM:</a:t>
            </a:r>
          </a:p>
          <a:p>
            <a:pPr lvl="1">
              <a:spcAft>
                <a:spcPts val="1000"/>
              </a:spcAft>
              <a:defRPr sz="2000"/>
            </a:pPr>
            <a:r>
              <a:t>IBM Granite (via WatsonX.ai), LangChain (Orchestration)</a:t>
            </a:r>
          </a:p>
          <a:p>
            <a:pPr>
              <a:spcAft>
                <a:spcPts val="1000"/>
              </a:spcAft>
              <a:defRPr sz="2400" b="0"/>
            </a:pPr>
            <a:r>
              <a:t>Data &amp; Infrastructure:</a:t>
            </a:r>
          </a:p>
          <a:p>
            <a:pPr lvl="1">
              <a:spcAft>
                <a:spcPts val="1000"/>
              </a:spcAft>
              <a:defRPr sz="2000"/>
            </a:pPr>
            <a:r>
              <a:t>ChromaDB (Vectors), IBM Cloud Object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Results: Content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0"/>
            </a:pPr>
            <a:r>
              <a:t>Input (Weak Outcome):</a:t>
            </a:r>
          </a:p>
          <a:p>
            <a:pPr lvl="1">
              <a:spcAft>
                <a:spcPts val="1000"/>
              </a:spcAft>
              <a:defRPr sz="2000"/>
            </a:pPr>
            <a:r>
              <a:t>'Understand Java'</a:t>
            </a:r>
          </a:p>
          <a:p>
            <a:pPr>
              <a:spcAft>
                <a:spcPts val="1000"/>
              </a:spcAft>
              <a:defRPr sz="2400" b="0"/>
            </a:pPr>
            <a:r>
              <a:t>AI Output (Optimized):</a:t>
            </a:r>
          </a:p>
          <a:p>
            <a:pPr lvl="1">
              <a:spcAft>
                <a:spcPts val="1000"/>
              </a:spcAft>
              <a:defRPr sz="2000"/>
            </a:pPr>
            <a:r>
              <a:t>'Design and implement object-oriented applications using Java collections and exception handling.'</a:t>
            </a:r>
          </a:p>
          <a:p>
            <a:pPr>
              <a:spcAft>
                <a:spcPts val="1000"/>
              </a:spcAft>
              <a:defRPr sz="2400" b="1"/>
            </a:pPr>
            <a:r>
              <a:t>Improvement:</a:t>
            </a:r>
          </a:p>
          <a:p>
            <a:pPr lvl="1">
              <a:spcAft>
                <a:spcPts val="1000"/>
              </a:spcAft>
              <a:defRPr sz="2000"/>
            </a:pPr>
            <a:r>
              <a:t>Shifted from 'Understand' (Low Bloom) to 'Create' (High Bloom).</a:t>
            </a:r>
          </a:p>
          <a:p>
            <a:pPr lvl="1">
              <a:spcAft>
                <a:spcPts val="1000"/>
              </a:spcAft>
              <a:defRPr sz="2000"/>
            </a:pPr>
            <a:r>
              <a:t>Added specific technical criteria (Collections, Exception Handling).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Results: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1"/>
            </a:pPr>
            <a:r>
              <a:t>Detected Gap:</a:t>
            </a:r>
          </a:p>
          <a:p>
            <a:pPr lvl="1">
              <a:spcAft>
                <a:spcPts val="1000"/>
              </a:spcAft>
              <a:defRPr sz="2000"/>
            </a:pPr>
            <a:r>
              <a:t>Missing 'Professional Ethics' module required by NBA for engineering courses.</a:t>
            </a:r>
          </a:p>
          <a:p>
            <a:pPr>
              <a:spcAft>
                <a:spcPts val="1000"/>
              </a:spcAft>
              <a:defRPr sz="2400" b="1"/>
            </a:pPr>
            <a:r>
              <a:t>System Action:</a:t>
            </a:r>
          </a:p>
          <a:p>
            <a:pPr lvl="1">
              <a:spcAft>
                <a:spcPts val="1000"/>
              </a:spcAft>
              <a:defRPr sz="2000"/>
            </a:pPr>
            <a:r>
              <a:t>Suggests insertion of 'Unit 6: Professional Ethics and Cyber Law'.</a:t>
            </a:r>
          </a:p>
          <a:p>
            <a:pPr lvl="1">
              <a:spcAft>
                <a:spcPts val="1000"/>
              </a:spcAft>
              <a:defRPr sz="2000"/>
            </a:pPr>
            <a:r>
              <a:t>Provides standard topics and learning resources for the new unit.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Impact &amp; Novelty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1"/>
            </a:pPr>
            <a:r>
              <a:t>Novelty:</a:t>
            </a:r>
          </a:p>
          <a:p>
            <a:pPr lvl="1">
              <a:spcAft>
                <a:spcPts val="1000"/>
              </a:spcAft>
              <a:defRPr sz="2000"/>
            </a:pPr>
            <a:r>
              <a:t>First Agentic RAG system specifically tuned for Indian Academic Standards (NEP/NBA).</a:t>
            </a:r>
          </a:p>
          <a:p>
            <a:pPr>
              <a:spcAft>
                <a:spcPts val="1000"/>
              </a:spcAft>
              <a:defRPr sz="2400" b="1"/>
            </a:pPr>
            <a:r>
              <a:t>Impact:</a:t>
            </a:r>
          </a:p>
          <a:p>
            <a:pPr lvl="1">
              <a:spcAft>
                <a:spcPts val="1000"/>
              </a:spcAft>
              <a:defRPr sz="2000"/>
            </a:pPr>
            <a:r>
              <a:t>Reduces syllabus design time by ~80%.</a:t>
            </a:r>
          </a:p>
          <a:p>
            <a:pPr lvl="1">
              <a:spcAft>
                <a:spcPts val="1000"/>
              </a:spcAft>
              <a:defRPr sz="2000"/>
            </a:pPr>
            <a:r>
              <a:t>Increases compliance accuracy to near 100%.</a:t>
            </a:r>
          </a:p>
          <a:p>
            <a:pPr lvl="1">
              <a:spcAft>
                <a:spcPts val="1000"/>
              </a:spcAft>
              <a:defRPr sz="2000"/>
            </a:pPr>
            <a:r>
              <a:t>Standardizes quality across departments.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0"/>
            </a:pPr>
            <a:r>
              <a:t>Interactive Dashboard:</a:t>
            </a:r>
          </a:p>
          <a:p>
            <a:pPr lvl="1">
              <a:spcAft>
                <a:spcPts val="1000"/>
              </a:spcAft>
              <a:defRPr sz="2000"/>
            </a:pPr>
            <a:r>
              <a:t>Drag-and-drop file upload.</a:t>
            </a:r>
          </a:p>
          <a:p>
            <a:pPr lvl="1">
              <a:spcAft>
                <a:spcPts val="1000"/>
              </a:spcAft>
              <a:defRPr sz="2000"/>
            </a:pPr>
            <a:r>
              <a:t>Real-time editing of parsed content.</a:t>
            </a:r>
          </a:p>
          <a:p>
            <a:pPr lvl="1">
              <a:spcAft>
                <a:spcPts val="1000"/>
              </a:spcAft>
              <a:defRPr sz="2000"/>
            </a:pPr>
            <a:r>
              <a:t>Visual Gap Analysis reports with color-coded alerts.</a:t>
            </a:r>
          </a:p>
          <a:p>
            <a:pPr lvl="1">
              <a:spcAft>
                <a:spcPts val="1000"/>
              </a:spcAft>
              <a:defRPr sz="2000"/>
            </a:pPr>
            <a:r>
              <a:t>(Live Demo / Screenshots available in project folder)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 b="1"/>
            </a:pPr>
            <a:r>
              <a:t>LMS Integration:</a:t>
            </a:r>
          </a:p>
          <a:p>
            <a:pPr lvl="1">
              <a:spcAft>
                <a:spcPts val="1000"/>
              </a:spcAft>
              <a:defRPr sz="2000"/>
            </a:pPr>
            <a:r>
              <a:t>Push approved syllabi directly to Moodle/Canvas APIs.</a:t>
            </a:r>
          </a:p>
          <a:p>
            <a:pPr>
              <a:spcAft>
                <a:spcPts val="1000"/>
              </a:spcAft>
              <a:defRPr sz="2400" b="1"/>
            </a:pPr>
            <a:r>
              <a:t>Real-Time Data:</a:t>
            </a:r>
          </a:p>
          <a:p>
            <a:pPr lvl="1">
              <a:spcAft>
                <a:spcPts val="1000"/>
              </a:spcAft>
              <a:defRPr sz="2000"/>
            </a:pPr>
            <a:r>
              <a:t>Live API keys to fetch current job descriptions (LinkedIn/Indeed) for dynamic skill mapping.</a:t>
            </a:r>
          </a:p>
          <a:p>
            <a:pPr>
              <a:spcAft>
                <a:spcPts val="1000"/>
              </a:spcAft>
              <a:defRPr sz="2400" b="0"/>
            </a:pPr>
            <a:r>
              <a:t>Multilingual Support:</a:t>
            </a:r>
          </a:p>
          <a:p>
            <a:pPr lvl="1">
              <a:spcAft>
                <a:spcPts val="1000"/>
              </a:spcAft>
              <a:defRPr sz="2000"/>
            </a:pPr>
            <a:r>
              <a:t>Support for regional language syllabi processing.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800"/>
            </a:pPr>
            <a:r>
              <a:t>SCDO successfully bridges the gap between static academic planning and dynamic industry needs through intelligent, agentic automation.</a:t>
            </a:r>
          </a:p>
          <a:p>
            <a:br/>
            <a:pPr algn="ctr">
              <a:defRPr sz="4000" b="1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